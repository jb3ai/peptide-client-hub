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46046" y="342900"/>
            <a:ext cx="25505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[ 01 ]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342900" y="2191010"/>
            <a:ext cx="57150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C5A059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Supplier evidence, turned into decisions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342900" y="3368278"/>
            <a:ext cx="4286250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concise readout of the Asian peptide supplier due diligence evidence pack and the client information hub built to carry decisions into a structured project brief.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42900" y="4354116"/>
            <a:ext cx="84582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MANUS AI / PEPTIDE BIBLE / SEPTEMBER 2026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85750"/>
            <a:ext cx="127515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pack / operating view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528186" y="285750"/>
            <a:ext cx="27291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0247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[ 02 ]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342900" y="517922"/>
            <a:ext cx="845820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2473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The pack is a working evidence system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342900" y="1092994"/>
            <a:ext cx="2275954" cy="1673423"/>
          </a:xfrm>
          <a:prstGeom prst="rect">
            <a:avLst/>
          </a:prstGeom>
          <a:solidFill>
            <a:srgbClr val="EBE5D9"/>
          </a:solidFill>
          <a:ln/>
        </p:spPr>
      </p:sp>
      <p:sp>
        <p:nvSpPr>
          <p:cNvPr id="7" name="Shape 4"/>
          <p:cNvSpPr/>
          <p:nvPr/>
        </p:nvSpPr>
        <p:spPr>
          <a:xfrm>
            <a:off x="342900" y="1092994"/>
            <a:ext cx="2275954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8" name="Text 5"/>
          <p:cNvSpPr/>
          <p:nvPr/>
        </p:nvSpPr>
        <p:spPr>
          <a:xfrm>
            <a:off x="442913" y="1221581"/>
            <a:ext cx="2075929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42913" y="1532334"/>
            <a:ext cx="207592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Manufacturer dossiers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42913" y="1757363"/>
            <a:ext cx="2075929" cy="434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boundaries, regulatory signals, adverse history, resilience, and screening decisions.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733154" y="1092994"/>
            <a:ext cx="2276010" cy="1673423"/>
          </a:xfrm>
          <a:prstGeom prst="rect">
            <a:avLst/>
          </a:prstGeom>
          <a:solidFill>
            <a:srgbClr val="EBE5D9"/>
          </a:solidFill>
          <a:ln/>
        </p:spPr>
      </p:sp>
      <p:sp>
        <p:nvSpPr>
          <p:cNvPr id="12" name="Shape 9"/>
          <p:cNvSpPr/>
          <p:nvPr/>
        </p:nvSpPr>
        <p:spPr>
          <a:xfrm>
            <a:off x="2733154" y="1092994"/>
            <a:ext cx="2276010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3" name="Text 10"/>
          <p:cNvSpPr/>
          <p:nvPr/>
        </p:nvSpPr>
        <p:spPr>
          <a:xfrm>
            <a:off x="2833167" y="1221581"/>
            <a:ext cx="2075985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833167" y="1532334"/>
            <a:ext cx="207598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Laboratory dossiers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833167" y="1757363"/>
            <a:ext cx="2075985" cy="434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Independent testing options for identity, purity, impurities, microbiology, and comparability.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42900" y="2880717"/>
            <a:ext cx="2275954" cy="1673423"/>
          </a:xfrm>
          <a:prstGeom prst="rect">
            <a:avLst/>
          </a:prstGeom>
          <a:solidFill>
            <a:srgbClr val="EBE5D9"/>
          </a:solidFill>
          <a:ln/>
        </p:spPr>
      </p:sp>
      <p:sp>
        <p:nvSpPr>
          <p:cNvPr id="17" name="Shape 14"/>
          <p:cNvSpPr/>
          <p:nvPr/>
        </p:nvSpPr>
        <p:spPr>
          <a:xfrm>
            <a:off x="342900" y="2880717"/>
            <a:ext cx="2275954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8" name="Text 15"/>
          <p:cNvSpPr/>
          <p:nvPr/>
        </p:nvSpPr>
        <p:spPr>
          <a:xfrm>
            <a:off x="442913" y="3009305"/>
            <a:ext cx="2075929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42913" y="3320058"/>
            <a:ext cx="2075929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 CSV registers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42913" y="3545086"/>
            <a:ext cx="2075929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Manufacturers, laboratories, and a source register that keeps claims traceable.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2733154" y="2880717"/>
            <a:ext cx="2276010" cy="1673423"/>
          </a:xfrm>
          <a:prstGeom prst="rect">
            <a:avLst/>
          </a:prstGeom>
          <a:solidFill>
            <a:srgbClr val="EBE5D9"/>
          </a:solidFill>
          <a:ln/>
        </p:spPr>
      </p:sp>
      <p:sp>
        <p:nvSpPr>
          <p:cNvPr id="22" name="Shape 19"/>
          <p:cNvSpPr/>
          <p:nvPr/>
        </p:nvSpPr>
        <p:spPr>
          <a:xfrm>
            <a:off x="2733154" y="2880717"/>
            <a:ext cx="2276010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0"/>
          <p:cNvSpPr/>
          <p:nvPr/>
        </p:nvSpPr>
        <p:spPr>
          <a:xfrm>
            <a:off x="2833167" y="3009305"/>
            <a:ext cx="2075985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2833167" y="3320058"/>
            <a:ext cx="207598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Qualification tracker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2833167" y="3545086"/>
            <a:ext cx="2075985" cy="289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decision-oriented workbook for scoring, evidence gaps, and next actions.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559233" y="1092994"/>
            <a:ext cx="324186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EVIDENCE LAYERS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559233" y="1450181"/>
            <a:ext cx="103584" cy="2599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5762830" y="1450181"/>
            <a:ext cx="3038270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primary sources: regulator, company, certificate, inspection, dossier, and site evidence.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5559233" y="1917316"/>
            <a:ext cx="121444" cy="2599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5780689" y="1917316"/>
            <a:ext cx="3020411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Bounded interpretation: what the source supports, what it does not support, and where site linkage is unresolved.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5559233" y="2384450"/>
            <a:ext cx="125016" cy="2599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5784261" y="2384450"/>
            <a:ext cx="3016839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layer: priority RFI, audit candidate, hold, or exclusion condition.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5559233" y="2851584"/>
            <a:ext cx="128588" cy="2599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5787833" y="2851584"/>
            <a:ext cx="3013267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handoff: controls required before a commercial chain is accepted.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342900" y="4554141"/>
            <a:ext cx="8458200" cy="246459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George_Asian_Peptide_Supplier_Due_Diligence_Evidence_Pack.zip / README.md and final dossier.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85750"/>
            <a:ext cx="1385888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Qualification lens / site-specificity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528186" y="285750"/>
            <a:ext cx="27291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0247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[ 03 ]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342900" y="517922"/>
            <a:ext cx="845820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2473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Qualify the site, not the story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42900" y="1121569"/>
            <a:ext cx="3303817" cy="389669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99200"/>
              </a:lnSpc>
              <a:buNone/>
            </a:pPr>
            <a:r>
              <a:rPr lang="en-US" sz="1150" dirty="0">
                <a:solidFill>
                  <a:srgbClr val="02473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 strong company profile is not the same as a qualified site, product, or supply route.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42900" y="1682688"/>
            <a:ext cx="3303817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dossier repeatedly separates API or drug substance scope from sterile finished-dose scope. It also distinguishes company-level claims from evidence tied to a legal entity, building, process, and market.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046767" y="1250156"/>
            <a:ext cx="1285875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Site &amp; supply boundary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475517" y="1250156"/>
            <a:ext cx="3325583" cy="1399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exact site, building, process, and chain step is evidenced?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046767" y="1625873"/>
            <a:ext cx="1285875" cy="2799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Regulatory linkage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475517" y="1625873"/>
            <a:ext cx="3325583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inspection, certificate, dossier, or approved-product signal is directly linked?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046767" y="2141562"/>
            <a:ext cx="1285875" cy="2799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Adverse history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475517" y="2141562"/>
            <a:ext cx="3325583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observations, warnings, suspensions, or unresolved signals change the posture?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046767" y="2657252"/>
            <a:ext cx="1285875" cy="2799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Resilience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5475517" y="2657252"/>
            <a:ext cx="3325583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single-site, raw-material, purification, cold-chain, or subcontracting dependency remains?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046767" y="3172941"/>
            <a:ext cx="1285875" cy="2799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475517" y="3172941"/>
            <a:ext cx="3325583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evidence must be requested before RFI, audit, approval, or exclusion?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42900" y="4568428"/>
            <a:ext cx="8458200" cy="232172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final due diligence dossier, sections covering site and supply boundary, regulatory evidence, adverse history, resilience, and screening decision.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85750"/>
            <a:ext cx="1539478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Screening posture / bounded shortlist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524615" y="285750"/>
            <a:ext cx="27648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0247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[ 04 ]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342900" y="517922"/>
            <a:ext cx="845820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2473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A bounded shortlist beats a broad directory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342900" y="1150144"/>
            <a:ext cx="4029075" cy="485775"/>
          </a:xfrm>
          <a:prstGeom prst="rect">
            <a:avLst/>
          </a:prstGeom>
          <a:solidFill>
            <a:srgbClr val="EBE5D9"/>
          </a:solidFill>
          <a:ln/>
        </p:spPr>
      </p:sp>
      <p:sp>
        <p:nvSpPr>
          <p:cNvPr id="7" name="Shape 4"/>
          <p:cNvSpPr/>
          <p:nvPr/>
        </p:nvSpPr>
        <p:spPr>
          <a:xfrm>
            <a:off x="342900" y="1150144"/>
            <a:ext cx="4029075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8" name="Text 5"/>
          <p:cNvSpPr/>
          <p:nvPr/>
        </p:nvSpPr>
        <p:spPr>
          <a:xfrm>
            <a:off x="485775" y="1337667"/>
            <a:ext cx="109059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 / Discovery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576369" y="1258026"/>
            <a:ext cx="2652731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plausible manufacturers and laboratories across Asia.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65206" y="1707356"/>
            <a:ext cx="3384407" cy="485775"/>
          </a:xfrm>
          <a:prstGeom prst="rect">
            <a:avLst/>
          </a:prstGeom>
          <a:solidFill>
            <a:srgbClr val="EBE5D9"/>
          </a:solidFill>
          <a:ln/>
        </p:spPr>
      </p:sp>
      <p:sp>
        <p:nvSpPr>
          <p:cNvPr id="11" name="Shape 8"/>
          <p:cNvSpPr/>
          <p:nvPr/>
        </p:nvSpPr>
        <p:spPr>
          <a:xfrm>
            <a:off x="665206" y="1707356"/>
            <a:ext cx="3384407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2" name="Text 9"/>
          <p:cNvSpPr/>
          <p:nvPr/>
        </p:nvSpPr>
        <p:spPr>
          <a:xfrm>
            <a:off x="808081" y="1839516"/>
            <a:ext cx="9066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 / Documentary screen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714723" y="1815238"/>
            <a:ext cx="2192015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 exact site, licence, GMP, product, and market linkage.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987512" y="2264569"/>
            <a:ext cx="2739740" cy="485775"/>
          </a:xfrm>
          <a:prstGeom prst="rect">
            <a:avLst/>
          </a:prstGeom>
          <a:solidFill>
            <a:srgbClr val="EBE5D9"/>
          </a:solidFill>
          <a:ln/>
        </p:spPr>
      </p:sp>
      <p:sp>
        <p:nvSpPr>
          <p:cNvPr id="15" name="Shape 12"/>
          <p:cNvSpPr/>
          <p:nvPr/>
        </p:nvSpPr>
        <p:spPr>
          <a:xfrm>
            <a:off x="987512" y="2264569"/>
            <a:ext cx="2739740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Text 13"/>
          <p:cNvSpPr/>
          <p:nvPr/>
        </p:nvSpPr>
        <p:spPr>
          <a:xfrm>
            <a:off x="1130387" y="2396728"/>
            <a:ext cx="6112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1A1A1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 / RFI &amp; audit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1741624" y="2304920"/>
            <a:ext cx="1842753" cy="40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only candidates with a credible evidence path into controlled diligence.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1309874" y="2821781"/>
            <a:ext cx="2095072" cy="485775"/>
          </a:xfrm>
          <a:prstGeom prst="rect">
            <a:avLst/>
          </a:prstGeom>
          <a:solidFill>
            <a:srgbClr val="024731"/>
          </a:solidFill>
          <a:ln/>
        </p:spPr>
      </p:sp>
      <p:sp>
        <p:nvSpPr>
          <p:cNvPr id="19" name="Shape 16"/>
          <p:cNvSpPr/>
          <p:nvPr/>
        </p:nvSpPr>
        <p:spPr>
          <a:xfrm>
            <a:off x="1309874" y="2821781"/>
            <a:ext cx="2095072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0" name="Text 17"/>
          <p:cNvSpPr/>
          <p:nvPr/>
        </p:nvSpPr>
        <p:spPr>
          <a:xfrm>
            <a:off x="1452749" y="2953941"/>
            <a:ext cx="5898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9F6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 / Decision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2042554" y="2862132"/>
            <a:ext cx="1219516" cy="405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Approve, hold, restrict to a bounded scope, or reject.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772025" y="1264444"/>
            <a:ext cx="40290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Priority RFI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72025" y="1446609"/>
            <a:ext cx="38969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WHO-backed or CEP-backed signals where the evidence path is strong enough to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772025" y="1591605"/>
            <a:ext cx="93940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justify deeper work.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772025" y="1990204"/>
            <a:ext cx="40290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Specialist candidate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772025" y="2172370"/>
            <a:ext cx="392191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Technology-fit or laboratory capability is promising, but site, licence, or customer-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772025" y="2317366"/>
            <a:ext cx="19252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authorized dossier proof is still required.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772025" y="2715964"/>
            <a:ext cx="40290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Hold / exclude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4772025" y="2898130"/>
            <a:ext cx="393977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Unresolved enforcement, unclear sterile scope, opaque subcontracting, or missing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772025" y="3043126"/>
            <a:ext cx="21717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closure evidence blocks commercial reliance.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772025" y="3441725"/>
            <a:ext cx="40290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Recommended lab path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4772025" y="3623890"/>
            <a:ext cx="37790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Begin independent-laboratory RFIs with Vimta, SGS, and Eurofins; keep Intertek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772025" y="3768886"/>
            <a:ext cx="330398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Mumbai bounded unless primary pharmaceutical scope is evidenced.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42900" y="4568428"/>
            <a:ext cx="8458200" cy="232172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final dossier, section 16 “Next decisions” and manufacturer screening decisions.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85750"/>
            <a:ext cx="1643063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framework / split-sample design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531758" y="285750"/>
            <a:ext cx="2693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0247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[ 05 ]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342900" y="517922"/>
            <a:ext cx="845820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2473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Evidence becomes defensible when the sample trail is controlled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342900" y="1150144"/>
            <a:ext cx="1611585" cy="1071563"/>
          </a:xfrm>
          <a:prstGeom prst="rect">
            <a:avLst/>
          </a:prstGeom>
          <a:solidFill>
            <a:srgbClr val="EBE5D9"/>
          </a:solidFill>
          <a:ln/>
        </p:spPr>
      </p:sp>
      <p:sp>
        <p:nvSpPr>
          <p:cNvPr id="7" name="Shape 4"/>
          <p:cNvSpPr/>
          <p:nvPr/>
        </p:nvSpPr>
        <p:spPr>
          <a:xfrm>
            <a:off x="342900" y="1150144"/>
            <a:ext cx="1611585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8" name="Text 5"/>
          <p:cNvSpPr/>
          <p:nvPr/>
        </p:nvSpPr>
        <p:spPr>
          <a:xfrm>
            <a:off x="442913" y="1278731"/>
            <a:ext cx="141156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 / Sample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42913" y="1460897"/>
            <a:ext cx="11251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representative lots,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42913" y="1600870"/>
            <a:ext cx="12215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sampling plans,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442913" y="1740843"/>
            <a:ext cx="12072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identified containers.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054498" y="1580555"/>
            <a:ext cx="1611641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766152" y="1150144"/>
            <a:ext cx="1611641" cy="1071563"/>
          </a:xfrm>
          <a:prstGeom prst="rect">
            <a:avLst/>
          </a:prstGeom>
          <a:solidFill>
            <a:srgbClr val="024731"/>
          </a:solidFill>
          <a:ln/>
        </p:spPr>
      </p:sp>
      <p:sp>
        <p:nvSpPr>
          <p:cNvPr id="14" name="Shape 11"/>
          <p:cNvSpPr/>
          <p:nvPr/>
        </p:nvSpPr>
        <p:spPr>
          <a:xfrm>
            <a:off x="3766152" y="1150144"/>
            <a:ext cx="1611641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5" name="Text 12"/>
          <p:cNvSpPr/>
          <p:nvPr/>
        </p:nvSpPr>
        <p:spPr>
          <a:xfrm>
            <a:off x="3866164" y="1278731"/>
            <a:ext cx="1411616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5A0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 / Blind split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866164" y="1460897"/>
            <a:ext cx="120372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coded aliquots for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866164" y="1600870"/>
            <a:ext cx="12894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manufacturer, independent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866164" y="1740843"/>
            <a:ext cx="11394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laboratory, and sponsor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866164" y="1880815"/>
            <a:ext cx="3000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retain.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477805" y="1580555"/>
            <a:ext cx="1611641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189459" y="1150144"/>
            <a:ext cx="1611641" cy="1071563"/>
          </a:xfrm>
          <a:prstGeom prst="rect">
            <a:avLst/>
          </a:prstGeom>
          <a:solidFill>
            <a:srgbClr val="EBE5D9"/>
          </a:solidFill>
          <a:ln/>
        </p:spPr>
      </p:sp>
      <p:sp>
        <p:nvSpPr>
          <p:cNvPr id="22" name="Shape 19"/>
          <p:cNvSpPr/>
          <p:nvPr/>
        </p:nvSpPr>
        <p:spPr>
          <a:xfrm>
            <a:off x="7189459" y="1150144"/>
            <a:ext cx="1611641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3" name="Text 20"/>
          <p:cNvSpPr/>
          <p:nvPr/>
        </p:nvSpPr>
        <p:spPr>
          <a:xfrm>
            <a:off x="7289471" y="1278731"/>
            <a:ext cx="1411616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 / Compare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7289471" y="1460897"/>
            <a:ext cx="128230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Lock reports, preserve raw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289471" y="1600870"/>
            <a:ext cx="9858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data, and investigate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7289471" y="1740843"/>
            <a:ext cx="12358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discordance scientifically.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42900" y="4146277"/>
            <a:ext cx="201810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Chain of custody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342900" y="4321299"/>
            <a:ext cx="175379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Serialized seals, calibrated loggers, courier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342900" y="4455579"/>
            <a:ext cx="180022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handoffs, receipt checks, and LIMS records.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2489597" y="4146277"/>
            <a:ext cx="201810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Temperature control</a:t>
            </a:r>
            <a:endParaRPr lang="en-US" sz="650" dirty="0"/>
          </a:p>
        </p:txBody>
      </p:sp>
      <p:sp>
        <p:nvSpPr>
          <p:cNvPr id="31" name="Text 28"/>
          <p:cNvSpPr/>
          <p:nvPr/>
        </p:nvSpPr>
        <p:spPr>
          <a:xfrm>
            <a:off x="2489597" y="4321299"/>
            <a:ext cx="196453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Qualified packaging and documented conditions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2489597" y="4455579"/>
            <a:ext cx="140374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temperature-sensitive material.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4636294" y="4146277"/>
            <a:ext cx="201810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Deviation rule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4636294" y="4321299"/>
            <a:ext cx="163949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Deviations stop testing pending sponsor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4636294" y="4455579"/>
            <a:ext cx="168949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disposition; do not average away an OOS.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6782991" y="4146277"/>
            <a:ext cx="2018109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Outcome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782991" y="4321299"/>
            <a:ext cx="177879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method/site, restrict scope, define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6782991" y="4455579"/>
            <a:ext cx="159305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CAPA, or reject with a written rationale.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342900" y="4568428"/>
            <a:ext cx="8458200" cy="232172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final dossier, sections 15 “Split-sample and chain-of-custody design” and 16 “Next decisions”.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85750"/>
            <a:ext cx="1489472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calibration / next actions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528186" y="285750"/>
            <a:ext cx="27291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0247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[ 06 ]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342900" y="517922"/>
            <a:ext cx="845820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2473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Confidence is calibrated, not implied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42900" y="1135856"/>
            <a:ext cx="4021931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THE PACK CANNOT PROVE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42900" y="1503759"/>
            <a:ext cx="402193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Public evidence is incomplete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342900" y="1678781"/>
            <a:ext cx="37826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Inspection databases, certificates, site names, and company statements can be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42900" y="1823777"/>
            <a:ext cx="201810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incomplete, time-bound, or difficult to link.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42900" y="2179513"/>
            <a:ext cx="402193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Absence is not clearance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42900" y="2354535"/>
            <a:ext cx="363259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bounded negative search does not prove absence of enforcement, recalls,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42900" y="2499531"/>
            <a:ext cx="12894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defects, or subcontractors.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42900" y="2855268"/>
            <a:ext cx="402193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Scope matters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42900" y="3030289"/>
            <a:ext cx="38790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DMF, CEP, marketed product, or group capability does not automatically qualify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42900" y="3175285"/>
            <a:ext cx="17109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site or finished product chain.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772025" y="1135856"/>
            <a:ext cx="382905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TO DO NEXT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4772025" y="1389459"/>
            <a:ext cx="3829050" cy="690042"/>
          </a:xfrm>
          <a:prstGeom prst="rect">
            <a:avLst/>
          </a:prstGeom>
          <a:solidFill>
            <a:srgbClr val="024731"/>
          </a:solidFill>
          <a:ln/>
        </p:spPr>
      </p:sp>
      <p:sp>
        <p:nvSpPr>
          <p:cNvPr id="18" name="Shape 15"/>
          <p:cNvSpPr/>
          <p:nvPr/>
        </p:nvSpPr>
        <p:spPr>
          <a:xfrm>
            <a:off x="4772025" y="1389459"/>
            <a:ext cx="3829050" cy="714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6"/>
          <p:cNvSpPr/>
          <p:nvPr/>
        </p:nvSpPr>
        <p:spPr>
          <a:xfrm>
            <a:off x="4886325" y="1503759"/>
            <a:ext cx="36004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5A0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 / RFI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886325" y="1678781"/>
            <a:ext cx="297537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Vimta, SGS, and Eurofins for independent laboratory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886325" y="1823777"/>
            <a:ext cx="61079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qualification.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772025" y="2186657"/>
            <a:ext cx="38290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 / Site proof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72025" y="2361679"/>
            <a:ext cx="362188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 precise legal entity, site, licence, inspection, product, and chain-of-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772025" y="2506675"/>
            <a:ext cx="86796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custody evidence.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772025" y="2862411"/>
            <a:ext cx="38290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 / Challenge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4772025" y="3037433"/>
            <a:ext cx="350400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a blind split-sample exercise after documentary screening and define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772025" y="3182429"/>
            <a:ext cx="14930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comparability rules in advance.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342900" y="4568428"/>
            <a:ext cx="8458200" cy="232172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final dossier, section 17 “Limitations” and section 16 “Next decisions”.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85750"/>
            <a:ext cx="1835944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PEPTIDE BIBLE app / information architecture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531758" y="285750"/>
            <a:ext cx="26934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0247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[ 07 ]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342900" y="517922"/>
            <a:ext cx="845820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2473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The app is a decision workspace, not a brochure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342900" y="1178719"/>
            <a:ext cx="1409663" cy="1156506"/>
          </a:xfrm>
          <a:prstGeom prst="rect">
            <a:avLst/>
          </a:prstGeom>
          <a:solidFill>
            <a:srgbClr val="024731"/>
          </a:solidFill>
          <a:ln/>
        </p:spPr>
      </p:sp>
      <p:sp>
        <p:nvSpPr>
          <p:cNvPr id="7" name="Shape 4"/>
          <p:cNvSpPr/>
          <p:nvPr/>
        </p:nvSpPr>
        <p:spPr>
          <a:xfrm>
            <a:off x="342900" y="1178719"/>
            <a:ext cx="1409663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8" name="Shape 5"/>
          <p:cNvSpPr/>
          <p:nvPr/>
        </p:nvSpPr>
        <p:spPr>
          <a:xfrm>
            <a:off x="342900" y="2328081"/>
            <a:ext cx="1409663" cy="714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6"/>
          <p:cNvSpPr/>
          <p:nvPr/>
        </p:nvSpPr>
        <p:spPr>
          <a:xfrm>
            <a:off x="442913" y="1307306"/>
            <a:ext cx="12096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5A0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442913" y="1539478"/>
            <a:ext cx="12096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9F6F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Orient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2913" y="1803797"/>
            <a:ext cx="114657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the project question and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42913" y="1938077"/>
            <a:ext cx="93225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evidence-first posture.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1752563" y="1644458"/>
            <a:ext cx="1409719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162281" y="1178719"/>
            <a:ext cx="1409663" cy="1156506"/>
          </a:xfrm>
          <a:prstGeom prst="rect">
            <a:avLst/>
          </a:prstGeom>
          <a:solidFill>
            <a:srgbClr val="EBE5D9"/>
          </a:solidFill>
          <a:ln/>
        </p:spPr>
      </p:sp>
      <p:sp>
        <p:nvSpPr>
          <p:cNvPr id="15" name="Shape 12"/>
          <p:cNvSpPr/>
          <p:nvPr/>
        </p:nvSpPr>
        <p:spPr>
          <a:xfrm>
            <a:off x="3162281" y="1178719"/>
            <a:ext cx="1409663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6" name="Shape 13"/>
          <p:cNvSpPr/>
          <p:nvPr/>
        </p:nvSpPr>
        <p:spPr>
          <a:xfrm>
            <a:off x="3162281" y="2328081"/>
            <a:ext cx="1409663" cy="714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7" name="Text 14"/>
          <p:cNvSpPr/>
          <p:nvPr/>
        </p:nvSpPr>
        <p:spPr>
          <a:xfrm>
            <a:off x="3262294" y="1307306"/>
            <a:ext cx="12096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3262294" y="1539478"/>
            <a:ext cx="12096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02473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Identity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262294" y="1803797"/>
            <a:ext cx="120729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and compare five live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3262294" y="1938077"/>
            <a:ext cx="67865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territories.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4571944" y="1644458"/>
            <a:ext cx="1409719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981663" y="1178719"/>
            <a:ext cx="1409719" cy="1156506"/>
          </a:xfrm>
          <a:prstGeom prst="rect">
            <a:avLst/>
          </a:prstGeom>
          <a:solidFill>
            <a:srgbClr val="EBE5D9"/>
          </a:solidFill>
          <a:ln/>
        </p:spPr>
      </p:sp>
      <p:sp>
        <p:nvSpPr>
          <p:cNvPr id="23" name="Shape 20"/>
          <p:cNvSpPr/>
          <p:nvPr/>
        </p:nvSpPr>
        <p:spPr>
          <a:xfrm>
            <a:off x="5981663" y="1178719"/>
            <a:ext cx="1409719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4" name="Shape 21"/>
          <p:cNvSpPr/>
          <p:nvPr/>
        </p:nvSpPr>
        <p:spPr>
          <a:xfrm>
            <a:off x="5981663" y="2328081"/>
            <a:ext cx="1409719" cy="714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5" name="Text 22"/>
          <p:cNvSpPr/>
          <p:nvPr/>
        </p:nvSpPr>
        <p:spPr>
          <a:xfrm>
            <a:off x="6081675" y="1307306"/>
            <a:ext cx="120969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6081675" y="1539478"/>
            <a:ext cx="12096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02473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Product bible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081675" y="1803797"/>
            <a:ext cx="95369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specs, assets,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6081675" y="1938077"/>
            <a:ext cx="92511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suppliers, and creative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6081675" y="2072357"/>
            <a:ext cx="40005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openings.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7391381" y="1633742"/>
            <a:ext cx="1409663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342900" y="2313794"/>
            <a:ext cx="1409663" cy="1156506"/>
          </a:xfrm>
          <a:prstGeom prst="rect">
            <a:avLst/>
          </a:prstGeom>
          <a:solidFill>
            <a:srgbClr val="EBE5D9"/>
          </a:solidFill>
          <a:ln/>
        </p:spPr>
      </p:sp>
      <p:sp>
        <p:nvSpPr>
          <p:cNvPr id="32" name="Shape 29"/>
          <p:cNvSpPr/>
          <p:nvPr/>
        </p:nvSpPr>
        <p:spPr>
          <a:xfrm>
            <a:off x="342900" y="2313794"/>
            <a:ext cx="1409663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3" name="Shape 30"/>
          <p:cNvSpPr/>
          <p:nvPr/>
        </p:nvSpPr>
        <p:spPr>
          <a:xfrm>
            <a:off x="342900" y="3463156"/>
            <a:ext cx="1409663" cy="714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34" name="Text 31"/>
          <p:cNvSpPr/>
          <p:nvPr/>
        </p:nvSpPr>
        <p:spPr>
          <a:xfrm>
            <a:off x="442913" y="2442381"/>
            <a:ext cx="12096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442913" y="2674553"/>
            <a:ext cx="12096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02473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Launch system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42913" y="2938872"/>
            <a:ext cx="116800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Stress-test budget, demand,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442913" y="3073152"/>
            <a:ext cx="103941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logistics, blind spots, and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442913" y="3207432"/>
            <a:ext cx="22145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CRM.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1752563" y="2779533"/>
            <a:ext cx="1409719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3162281" y="2313794"/>
            <a:ext cx="1409663" cy="1156506"/>
          </a:xfrm>
          <a:prstGeom prst="rect">
            <a:avLst/>
          </a:prstGeom>
          <a:solidFill>
            <a:srgbClr val="EBE5D9"/>
          </a:solidFill>
          <a:ln/>
        </p:spPr>
      </p:sp>
      <p:sp>
        <p:nvSpPr>
          <p:cNvPr id="41" name="Shape 38"/>
          <p:cNvSpPr/>
          <p:nvPr/>
        </p:nvSpPr>
        <p:spPr>
          <a:xfrm>
            <a:off x="3162281" y="2313794"/>
            <a:ext cx="1409663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2" name="Shape 39"/>
          <p:cNvSpPr/>
          <p:nvPr/>
        </p:nvSpPr>
        <p:spPr>
          <a:xfrm>
            <a:off x="3162281" y="3463156"/>
            <a:ext cx="1409663" cy="7144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43" name="Text 40"/>
          <p:cNvSpPr/>
          <p:nvPr/>
        </p:nvSpPr>
        <p:spPr>
          <a:xfrm>
            <a:off x="3262294" y="2442381"/>
            <a:ext cx="120963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05–06</a:t>
            </a:r>
            <a:endParaRPr lang="en-US" sz="600" dirty="0"/>
          </a:p>
        </p:txBody>
      </p:sp>
      <p:sp>
        <p:nvSpPr>
          <p:cNvPr id="44" name="Text 41"/>
          <p:cNvSpPr/>
          <p:nvPr/>
        </p:nvSpPr>
        <p:spPr>
          <a:xfrm>
            <a:off x="3262294" y="2674553"/>
            <a:ext cx="12096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02473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Toolkit → brief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3262294" y="2938872"/>
            <a:ext cx="8429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decisions into a</a:t>
            </a:r>
            <a:endParaRPr lang="en-US" sz="600" dirty="0"/>
          </a:p>
        </p:txBody>
      </p:sp>
      <p:sp>
        <p:nvSpPr>
          <p:cNvPr id="46" name="Text 43"/>
          <p:cNvSpPr/>
          <p:nvPr/>
        </p:nvSpPr>
        <p:spPr>
          <a:xfrm>
            <a:off x="3262294" y="3073152"/>
            <a:ext cx="87510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reviewable, routeable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3262294" y="3207432"/>
            <a:ext cx="632222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handoff packet.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342900" y="4211241"/>
            <a:ext cx="5429250" cy="35718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2473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Each step earns the next: confidence accumulates because earlier decisions remain visible and structured.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342900" y="4568428"/>
            <a:ext cx="8458200" cy="232172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PEPTIDE BIBLE App.tsx / railItems, identity selector, product bible, launch system, toolkit, and brief sections.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85750"/>
            <a:ext cx="1685925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PEPTIDE BIBLE app / live identity selector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528186" y="285750"/>
            <a:ext cx="27291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0247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[ 08 ]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342900" y="517922"/>
            <a:ext cx="845820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2473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Five identities make the abstract visible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42900" y="878681"/>
            <a:ext cx="5143500" cy="431416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selector gives clients a shared vocabulary for tone, palette, movement, and mark direction—then carries the chosen territory into the project brief.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42900" y="1538697"/>
            <a:ext cx="1634468" cy="3029731"/>
          </a:xfrm>
          <a:prstGeom prst="rect">
            <a:avLst/>
          </a:prstGeom>
          <a:solidFill>
            <a:srgbClr val="EBE5D9"/>
          </a:solidFill>
          <a:ln/>
        </p:spPr>
      </p:sp>
      <p:sp>
        <p:nvSpPr>
          <p:cNvPr id="8" name="Shape 5"/>
          <p:cNvSpPr/>
          <p:nvPr/>
        </p:nvSpPr>
        <p:spPr>
          <a:xfrm>
            <a:off x="342900" y="1538697"/>
            <a:ext cx="1634468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9" name="Text 6"/>
          <p:cNvSpPr/>
          <p:nvPr/>
        </p:nvSpPr>
        <p:spPr>
          <a:xfrm>
            <a:off x="442913" y="1652997"/>
            <a:ext cx="1434443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5A0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442913" y="1956606"/>
            <a:ext cx="143444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02473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Quiet Lab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42913" y="2199494"/>
            <a:ext cx="143444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calm. Precise, measured, transparent.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2048805" y="1538697"/>
            <a:ext cx="1634468" cy="3029731"/>
          </a:xfrm>
          <a:prstGeom prst="rect">
            <a:avLst/>
          </a:prstGeom>
          <a:solidFill>
            <a:srgbClr val="EBE5D9"/>
          </a:solidFill>
          <a:ln/>
        </p:spPr>
      </p:sp>
      <p:sp>
        <p:nvSpPr>
          <p:cNvPr id="13" name="Shape 10"/>
          <p:cNvSpPr/>
          <p:nvPr/>
        </p:nvSpPr>
        <p:spPr>
          <a:xfrm>
            <a:off x="2048805" y="1538697"/>
            <a:ext cx="1634468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4" name="Text 11"/>
          <p:cNvSpPr/>
          <p:nvPr/>
        </p:nvSpPr>
        <p:spPr>
          <a:xfrm>
            <a:off x="2148818" y="1652997"/>
            <a:ext cx="1434443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5A0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2148818" y="1956606"/>
            <a:ext cx="143444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02473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Signal House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148818" y="2199494"/>
            <a:ext cx="143444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Contemporary utility. Direct, energetic, clear.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3754710" y="1538697"/>
            <a:ext cx="1634523" cy="3029731"/>
          </a:xfrm>
          <a:prstGeom prst="rect">
            <a:avLst/>
          </a:prstGeom>
          <a:solidFill>
            <a:srgbClr val="EBE5D9"/>
          </a:solidFill>
          <a:ln/>
        </p:spPr>
      </p:sp>
      <p:sp>
        <p:nvSpPr>
          <p:cNvPr id="18" name="Shape 15"/>
          <p:cNvSpPr/>
          <p:nvPr/>
        </p:nvSpPr>
        <p:spPr>
          <a:xfrm>
            <a:off x="3754710" y="1538697"/>
            <a:ext cx="1634523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19" name="Text 16"/>
          <p:cNvSpPr/>
          <p:nvPr/>
        </p:nvSpPr>
        <p:spPr>
          <a:xfrm>
            <a:off x="3854723" y="1652997"/>
            <a:ext cx="1434498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5A0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3854723" y="1956606"/>
            <a:ext cx="143449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02473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Modern Apothecary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854723" y="2199494"/>
            <a:ext cx="143449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Warm ritual. Tactile, assured, considered.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5460671" y="1538697"/>
            <a:ext cx="1634468" cy="3029731"/>
          </a:xfrm>
          <a:prstGeom prst="rect">
            <a:avLst/>
          </a:prstGeom>
          <a:solidFill>
            <a:srgbClr val="024731"/>
          </a:solidFill>
          <a:ln/>
        </p:spPr>
      </p:sp>
      <p:sp>
        <p:nvSpPr>
          <p:cNvPr id="23" name="Shape 20"/>
          <p:cNvSpPr/>
          <p:nvPr/>
        </p:nvSpPr>
        <p:spPr>
          <a:xfrm>
            <a:off x="5460671" y="1538697"/>
            <a:ext cx="1634468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4" name="Text 21"/>
          <p:cNvSpPr/>
          <p:nvPr/>
        </p:nvSpPr>
        <p:spPr>
          <a:xfrm>
            <a:off x="5560684" y="1652997"/>
            <a:ext cx="1434443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5A0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5560684" y="1956606"/>
            <a:ext cx="143444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F9F6F0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Future Classic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560684" y="2199494"/>
            <a:ext cx="1434443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Disciplined advantage. Premium, precise, forward.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7166577" y="1538697"/>
            <a:ext cx="1634523" cy="3029731"/>
          </a:xfrm>
          <a:prstGeom prst="rect">
            <a:avLst/>
          </a:prstGeom>
          <a:solidFill>
            <a:srgbClr val="EBE5D9"/>
          </a:solidFill>
          <a:ln/>
        </p:spPr>
      </p:sp>
      <p:sp>
        <p:nvSpPr>
          <p:cNvPr id="28" name="Shape 25"/>
          <p:cNvSpPr/>
          <p:nvPr/>
        </p:nvSpPr>
        <p:spPr>
          <a:xfrm>
            <a:off x="7166577" y="1538697"/>
            <a:ext cx="1634523" cy="14288"/>
          </a:xfrm>
          <a:prstGeom prst="rect">
            <a:avLst/>
          </a:prstGeom>
          <a:solidFill>
            <a:srgbClr val="C5A059"/>
          </a:solidFill>
          <a:ln/>
        </p:spPr>
      </p:sp>
      <p:sp>
        <p:nvSpPr>
          <p:cNvPr id="29" name="Text 26"/>
          <p:cNvSpPr/>
          <p:nvPr/>
        </p:nvSpPr>
        <p:spPr>
          <a:xfrm>
            <a:off x="7266589" y="1652997"/>
            <a:ext cx="1434498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C5A0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05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7266589" y="1956606"/>
            <a:ext cx="1434498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02473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Black Label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266589" y="2199494"/>
            <a:ext cx="143449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Cinematic luxury. Selective, bold, composed.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342900" y="4568428"/>
            <a:ext cx="8458200" cy="232172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PEPTIDE BIBLE App.tsx / identities array and live preview state.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42900" y="285750"/>
            <a:ext cx="1625203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PEPTIDE BIBLE app / structured handoff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528186" y="285750"/>
            <a:ext cx="27291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02473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[ 09 ]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342900" y="517922"/>
            <a:ext cx="8458200" cy="36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24731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Every decision becomes a structured handoff field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342900" y="1214438"/>
            <a:ext cx="128587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identityTerritory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1628775" y="1214438"/>
            <a:ext cx="287580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Future Classic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342900" y="1525191"/>
            <a:ext cx="128587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identityTone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1628775" y="1525191"/>
            <a:ext cx="287580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Premium · precise · forward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42900" y="1835944"/>
            <a:ext cx="128587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launchScenario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1628775" y="1835944"/>
            <a:ext cx="287580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Pilot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342900" y="2146697"/>
            <a:ext cx="128587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planningBudget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1628775" y="2146697"/>
            <a:ext cx="287580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R18,000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342900" y="2457450"/>
            <a:ext cx="128587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targetMarket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1628775" y="2457450"/>
            <a:ext cx="287580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South Africa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42900" y="2768203"/>
            <a:ext cx="128587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demandScenario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1628775" y="2768203"/>
            <a:ext cx="287580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240 launch units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342900" y="3078956"/>
            <a:ext cx="128587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handoff.crmRoute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1628775" y="3078956"/>
            <a:ext cx="287580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Strategy / validation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342900" y="3389709"/>
            <a:ext cx="128587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handoff.nextOwner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1628775" y="3389709"/>
            <a:ext cx="287580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Project lead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5054650" y="1107281"/>
            <a:ext cx="374639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CRM ROUTE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5054650" y="1493044"/>
            <a:ext cx="374639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 / Capture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5054650" y="1653778"/>
            <a:ext cx="32646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Identity, market, product title, ambition, budget, and demand signals.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054650" y="2015207"/>
            <a:ext cx="374639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 / Qualify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5054650" y="2175942"/>
            <a:ext cx="318254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Scenario sets the first owner and the level of commercial pressure.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054650" y="2537371"/>
            <a:ext cx="374639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2473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 / Route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5054650" y="2698105"/>
            <a:ext cx="366117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moves to Growth / launch; Lean and Pilot move to Strategy / validation.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5054650" y="3066678"/>
            <a:ext cx="3746395" cy="665764"/>
          </a:xfrm>
          <a:prstGeom prst="rect">
            <a:avLst/>
          </a:prstGeom>
          <a:solidFill>
            <a:srgbClr val="024731"/>
          </a:solidFill>
          <a:ln/>
        </p:spPr>
      </p:sp>
      <p:sp>
        <p:nvSpPr>
          <p:cNvPr id="30" name="Text 27"/>
          <p:cNvSpPr/>
          <p:nvPr/>
        </p:nvSpPr>
        <p:spPr>
          <a:xfrm>
            <a:off x="5054650" y="3066678"/>
            <a:ext cx="3746395" cy="665764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600" dirty="0">
                <a:solidFill>
                  <a:srgbClr val="C5A05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crm.upsert</a:t>
            </a:r>
            <a:r>
              <a:rPr lang="en-US" sz="600" dirty="0">
                <a:solidFill>
                  <a:srgbClr val="F9F6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(lead)</a:t>
            </a:r>
            <a:r>
              <a:rPr lang="en-US" sz="600" dirty="0">
                <a:solidFill>
                  <a:srgbClr val="F9F6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
</a:t>
            </a:r>
            <a:r>
              <a:rPr lang="en-US" sz="600" dirty="0">
                <a:solidFill>
                  <a:srgbClr val="C5A05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router.assign</a:t>
            </a:r>
            <a:r>
              <a:rPr lang="en-US" sz="600" dirty="0">
                <a:solidFill>
                  <a:srgbClr val="F9F6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(lead.scenario)</a:t>
            </a:r>
            <a:r>
              <a:rPr lang="en-US" sz="600" dirty="0">
                <a:solidFill>
                  <a:srgbClr val="F9F6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
</a:t>
            </a:r>
            <a:r>
              <a:rPr lang="en-US" sz="600" dirty="0">
                <a:solidFill>
                  <a:srgbClr val="C5A05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handoff.ready</a:t>
            </a:r>
            <a:r>
              <a:rPr lang="en-US" sz="600" dirty="0">
                <a:solidFill>
                  <a:srgbClr val="F9F6F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= true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342900" y="4568428"/>
            <a:ext cx="8458200" cy="232172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C5C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PEPTIDE BIBLE App.tsx / briefPacket useMemo, form steps, and CRM routing preview.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46046" y="342900"/>
            <a:ext cx="25505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[ 10 ]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342900" y="1069553"/>
            <a:ext cx="8458200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C5A0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PEPTIDE BIBLE / DECISION WORKSPACE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342900" y="1351731"/>
            <a:ext cx="6143625" cy="894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2950" b="1" dirty="0">
                <a:solidFill>
                  <a:srgbClr val="C5A059"/>
                </a:solidFill>
                <a:latin typeface="Playfair Display SemiBold" pitchFamily="34" charset="0"/>
                <a:ea typeface="Playfair Display SemiBold" pitchFamily="34" charset="-122"/>
                <a:cs typeface="Playfair Display SemiBold" pitchFamily="34" charset="-120"/>
              </a:rPr>
              <a:t>Fewer unknowns before the work starts.</a:t>
            </a:r>
            <a:endParaRPr lang="en-US" sz="2950" dirty="0"/>
          </a:p>
        </p:txBody>
      </p:sp>
      <p:sp>
        <p:nvSpPr>
          <p:cNvPr id="6" name="Text 3"/>
          <p:cNvSpPr/>
          <p:nvPr/>
        </p:nvSpPr>
        <p:spPr>
          <a:xfrm>
            <a:off x="342900" y="2418048"/>
            <a:ext cx="5000625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Supplier diligence supplies the evidence boundary. The client hub carries that boundary into brand, launch, operations, CRM, and a structured brief the team can act on.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42900" y="3496754"/>
            <a:ext cx="2047856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5A0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Evidence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342900" y="3657488"/>
            <a:ext cx="18145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Site-specific, source-linked, bounded.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533631" y="3496754"/>
            <a:ext cx="2047856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5A0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Experience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2533631" y="3657488"/>
            <a:ext cx="18466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Progressive, comparative, confidence-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533631" y="3796066"/>
            <a:ext cx="4071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building.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724363" y="3496754"/>
            <a:ext cx="2047856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C5A05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Handoff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4724363" y="3657488"/>
            <a:ext cx="15287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F9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Structured, routeable, buildable.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42900" y="4697016"/>
            <a:ext cx="845820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C5A0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MANUS AI / PEPTIDE BIBLE / SEPTEMBER 2026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2026-09-21T13:31:48Z</dcterms:created>
  <dcterms:modified xsi:type="dcterms:W3CDTF">2026-09-21T13:31:48Z</dcterms:modified>
</cp:coreProperties>
</file>